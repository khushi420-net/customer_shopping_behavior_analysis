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Unbounded Bold"/>
      <p:regular r:id="rId17"/>
    </p:embeddedFont>
    <p:embeddedFont>
      <p:font typeface="Open Sans"/>
      <p:regular r:id="rId18"/>
    </p:embeddedFont>
    <p:embeddedFont>
      <p:font typeface="Open Sans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076"/>
            <a:ext cx="493104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Transactional records across all product categories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2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purchase details &amp; shopping behavior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51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Review Rating — imputed by category median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51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transaction value across the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features include customer demographics (Age, Gender, Location, Subscription Status), purchase details (Item, Category, Amount, Season), and shopping behavior (Discount, Promo Code, Frequency, Review Rating, Shipping Type).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6349" y="400124"/>
            <a:ext cx="4800302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Preparation in Python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2061" y="1397571"/>
            <a:ext cx="4814590" cy="11688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74170" y="1542529"/>
            <a:ext cx="28241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Cleaning &amp; Standardization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074170" y="1818903"/>
            <a:ext cx="446752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via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explored with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Missing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Review_Rating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values imputed by category median. Columns renamed to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snake_case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061" y="2686869"/>
            <a:ext cx="4814590" cy="11688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74170" y="2831827"/>
            <a:ext cx="206625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074170" y="3108201"/>
            <a:ext cx="446752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binning customer ages and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purchase data. Dropped redundant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column.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2061" y="3976167"/>
            <a:ext cx="4814590" cy="7671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74170" y="4121125"/>
            <a:ext cx="222899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Integration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074170" y="4397499"/>
            <a:ext cx="446752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Cleaned DataFrame loaded into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structured SQL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8254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&amp; Spending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5639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over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2x the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female customers ($157,890 vs. $75,191).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3431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averaged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Standard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modest but consistent premium.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3394323"/>
            <a:ext cx="3817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75753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used discounts yet still spent above the average purchase amount.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4140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Products &amp; Categories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5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 lead with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average rating. Overall dataset average is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3.75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34612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Products per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Accessories: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Jewelry (171), Sunglasses (161), Belt (161)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Blouse (171), Pants (171), Shirt (169)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Footwear: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Sandals (160), Shoes (150), Sneakers (145)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Outerwear: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Jacket (163), Coat (161)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4196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Subscription Behavior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40772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73% of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($170,436) despite nearly identical average spend (~$59.50). Subscribers represent only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customers (1,053 of 3,900).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62535"/>
            <a:ext cx="3902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02575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Among 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5+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958 are subscribers vs. 2,518 non-subscribers — suggesting subscription adoption lags among repeat buyers.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72212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Discount-Dependent Products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Products Most Reliant on Discounts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06179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top 5 discount-dependent products all show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~47–50%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purchases made with a discount applied.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74888"/>
            <a:ext cx="3902943" cy="1233190"/>
          </a:xfrm>
          <a:prstGeom prst="roundRect">
            <a:avLst>
              <a:gd name="adj" fmla="val 4828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894707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37855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Hats are the most discount-sensitive product — half of all hat purchases involve a discount. This signals potential margin risk and pricing sensitivity in these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6682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65399"/>
            <a:ext cx="2290465" cy="1511573"/>
          </a:xfrm>
          <a:prstGeom prst="roundRect">
            <a:avLst>
              <a:gd name="adj" fmla="val 393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91192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223195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dominant segment, representing the core repeat-purchase base.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65399"/>
            <a:ext cx="2290539" cy="1511573"/>
          </a:xfrm>
          <a:prstGeom prst="roundRect">
            <a:avLst>
              <a:gd name="adj" fmla="val 393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91192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223195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engaged but not yet at loyal frequency. Prime targets for loyalty programs.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418731"/>
            <a:ext cx="4722763" cy="1057945"/>
          </a:xfrm>
          <a:prstGeom prst="roundRect">
            <a:avLst>
              <a:gd name="adj" fmla="val 562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565252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876526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smallest segment. Opportunity to convert through onboarding incentives.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3757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40778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Age Group Revenue Contribution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is relatively evenly distributed across age groups.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 at $62,143, while Seniors contribute the least at $55,763 — a difference of only ~11%.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suggests broad product appeal across demographics, with slight opportunity to deepen engagement with older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408980"/>
            <a:ext cx="4815780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Business Recommendations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6756" y="1390427"/>
            <a:ext cx="192658" cy="192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96073" y="1386483"/>
            <a:ext cx="207354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Boost Subscriptions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296073" y="1656978"/>
            <a:ext cx="439831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 to grow the 27% base and capture more recurring revenue.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6756" y="2285628"/>
            <a:ext cx="192658" cy="192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96073" y="2281684"/>
            <a:ext cx="18078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Loyalty Programs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296073" y="2552179"/>
            <a:ext cx="439831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the 701 Returning customers to accelerate conversion into the Loyal segment.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6756" y="3180829"/>
            <a:ext cx="192658" cy="1926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96073" y="3176885"/>
            <a:ext cx="230527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Review Discount Policy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296073" y="3447380"/>
            <a:ext cx="439831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 — nearly 50% of top products rely heavily on discounts.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6756" y="4076030"/>
            <a:ext cx="192658" cy="19265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96073" y="4072086"/>
            <a:ext cx="201617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Targeted Marketing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296073" y="4342581"/>
            <a:ext cx="439831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campaigns on high-revenue age groups, express-shipping users, and top-rated products.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2026-06-06T19:52:20Z</dcterms:created>
  <dcterms:modified xsi:type="dcterms:W3CDTF">2026-06-06T19:52:20Z</dcterms:modified>
</cp:coreProperties>
</file>